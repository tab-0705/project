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43B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2243B"/>
                </a:solidFill>
                <a:latin typeface="Cambria"/>
              </a:rPr>
              <a:t>Field-level Precision vs Recall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Rule-based</c:v>
                </c:pt>
                <c:pt idx="1">
                  <c:v>LLM (Gemini)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89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9A-468A-9B62-A82D2FF7A0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224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Rule-based</c:v>
                </c:pt>
                <c:pt idx="1">
                  <c:v>LLM (Gemini)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90</c:v>
                </c:pt>
                <c:pt idx="2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9A-468A-9B62-A82D2FF7A0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3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3351" y="-1853059"/>
            <a:ext cx="4754880" cy="475488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043160" y="1737360"/>
            <a:ext cx="2743200" cy="2743200"/>
          </a:xfrm>
          <a:prstGeom prst="ellipse">
            <a:avLst/>
          </a:prstGeom>
          <a:solidFill>
            <a:srgbClr val="0E9488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-1371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PROJECT  ·  TECHNICAL REVIEW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9326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Field Extraction Engine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rule-based + LLM pipeline that turns unstructured invoices into clean, structured data — with accuracy held above recall by design.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5074920"/>
            <a:ext cx="1828800" cy="0"/>
          </a:xfrm>
          <a:prstGeom prst="line">
            <a:avLst/>
          </a:prstGeom>
          <a:noFill/>
          <a:ln w="25400">
            <a:solidFill>
              <a:srgbClr val="0E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57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Brijesh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Internship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1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data entry is slow, manual, and error-prone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teams re-key invoice fields by hand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numbers, dates, line items and totals are copied manually from PDFs and scans into downstream systems.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layout is different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two vendors format an invoice the same way, so rigid templates break the moment a new supplier appears.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are expensive and invisible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mistyped total flows silently into reporting, payments and reconciliation.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480560" cy="1207008"/>
          </a:xfrm>
          <a:prstGeom prst="roundRect">
            <a:avLst>
              <a:gd name="adj" fmla="val 6818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69480" y="2139696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2585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9751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min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0" y="25054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key one invoice by hand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3218688"/>
            <a:ext cx="4480560" cy="1207008"/>
          </a:xfrm>
          <a:prstGeom prst="roundRect">
            <a:avLst>
              <a:gd name="adj" fmla="val 6818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69480" y="3529584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64845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0" y="33649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8046720" y="38953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field error rate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040880" y="4608576"/>
            <a:ext cx="4480560" cy="1207008"/>
          </a:xfrm>
          <a:prstGeom prst="roundRect">
            <a:avLst>
              <a:gd name="adj" fmla="val 6818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69480" y="4919472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50383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100s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8046720" y="52852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unique vendor layouts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extraction pipeline — classical first, LLM on demand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221992"/>
            <a:ext cx="822960" cy="822960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3957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181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OCR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370332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image upload; dual-pass Tesseract picks the higher-confidence read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63824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493008" y="19659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52544" y="2221992"/>
            <a:ext cx="822960" cy="822960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39572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1181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30168" y="33375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94176" y="370332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+ regex parsing as the primary, high-precision pass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016752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45936" y="19659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5472" y="2221992"/>
            <a:ext cx="822960" cy="822960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2395728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5936" y="31181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83096" y="33375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Fallback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547104" y="370332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+ Gemini structured extraction for novel layouts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869680" y="27889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9198864" y="19659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58400" y="2221992"/>
            <a:ext cx="822960" cy="822960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136" y="2395728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98864" y="31181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336024" y="33375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400032" y="370332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field schema adapts per invoice type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2243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029200"/>
            <a:ext cx="566928" cy="56692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737360" y="47731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Architecture-first by design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1737360" y="523036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routers, logic isolated in services, DB access separated. The rule engine runs first to keep precision high; the LLM is opt-in for layouts rules can't handle — accuracy is prioritised over recall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on 120 invoices across 15 vendor formats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65960"/>
            <a:ext cx="4206240" cy="1243584"/>
          </a:xfrm>
          <a:prstGeom prst="roundRect">
            <a:avLst>
              <a:gd name="adj" fmla="val 6618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52944" y="2295144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2414016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9328" y="2093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8339328" y="26426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field-level precision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0" y="3337560"/>
            <a:ext cx="4206240" cy="1243584"/>
          </a:xfrm>
          <a:prstGeom prst="roundRect">
            <a:avLst>
              <a:gd name="adj" fmla="val 6618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552944" y="3666744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378561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39328" y="34655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sec</a:t>
            </a:r>
            <a:endParaRPr lang="en-US" sz="2700" dirty="0"/>
          </a:p>
        </p:txBody>
      </p:sp>
      <p:sp>
        <p:nvSpPr>
          <p:cNvPr id="14" name="Text 9"/>
          <p:cNvSpPr/>
          <p:nvPr/>
        </p:nvSpPr>
        <p:spPr>
          <a:xfrm>
            <a:off x="8339328" y="40142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process one invoice (vs 3–4 min manual)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315200" y="4709160"/>
            <a:ext cx="4206240" cy="1243584"/>
          </a:xfrm>
          <a:prstGeom prst="roundRect">
            <a:avLst>
              <a:gd name="adj" fmla="val 6618"/>
            </a:avLst>
          </a:prstGeom>
          <a:solidFill>
            <a:srgbClr val="EAF3F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552944" y="5038344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515721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9328" y="48371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700" dirty="0"/>
          </a:p>
        </p:txBody>
      </p:sp>
      <p:sp>
        <p:nvSpPr>
          <p:cNvPr id="19" name="Text 13"/>
          <p:cNvSpPr/>
          <p:nvPr/>
        </p:nvSpPr>
        <p:spPr>
          <a:xfrm>
            <a:off x="8339328" y="5385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formats handled without per-vendor templates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intentionally exceeds recall — the engine omits a field rather than guess it wrong.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WHAT'S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re-keying to a defensible automation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79"/>
            <a:ext cx="3456432" cy="1972491"/>
          </a:xfrm>
          <a:prstGeom prst="roundRect">
            <a:avLst>
              <a:gd name="adj" fmla="val 5128"/>
            </a:avLst>
          </a:prstGeom>
          <a:solidFill>
            <a:srgbClr val="1B3A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713232" cy="713232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4414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~25× faster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930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Per-invoice handling time cut from minutes to seconds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465576" cy="1972490"/>
          </a:xfrm>
          <a:prstGeom prst="roundRect">
            <a:avLst>
              <a:gd name="adj" fmla="val 5128"/>
            </a:avLst>
          </a:prstGeom>
          <a:solidFill>
            <a:srgbClr val="1B3A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286000"/>
            <a:ext cx="713232" cy="713232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4414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silent errors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36008" y="34930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High-precision output reduces bad data entering reporting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483864" cy="1972490"/>
          </a:xfrm>
          <a:prstGeom prst="roundRect">
            <a:avLst>
              <a:gd name="adj" fmla="val 5128"/>
            </a:avLst>
          </a:prstGeom>
          <a:solidFill>
            <a:srgbClr val="1B3A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286000"/>
            <a:ext cx="713232" cy="713232"/>
          </a:xfrm>
          <a:prstGeom prst="ellipse">
            <a:avLst/>
          </a:prstGeom>
          <a:solidFill>
            <a:srgbClr val="0E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24414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to new vendors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57616" y="34930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fallback absorbs novel layouts with no template work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45262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thresholds that auto-route low-certainty fields to human review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validated test set and add per-field accuracy tracking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Line-item table extraction and a feedback loop to refine rules over time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solo over the internship  ·  FastAPI · MongoDB · LangChain · Tesseract · Gemini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406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Field Extraction — Executive Review</dc:title>
  <dc:subject>PptxGenJS Presentation</dc:subject>
  <dc:creator>TAB</dc:creator>
  <cp:lastModifiedBy>TAB Tab</cp:lastModifiedBy>
  <cp:revision>4</cp:revision>
  <dcterms:created xsi:type="dcterms:W3CDTF">2026-06-24T19:22:37Z</dcterms:created>
  <dcterms:modified xsi:type="dcterms:W3CDTF">2026-06-29T07:54:57Z</dcterms:modified>
</cp:coreProperties>
</file>